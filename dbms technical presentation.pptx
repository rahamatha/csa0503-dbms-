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0FFE2D-FBCC-4BC4-956B-2493126AE946}" v="5" dt="2026-07-23T02:39:28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9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2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2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02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3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2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52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8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7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3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9811E-2F41-4FD5-9738-EDA8C543C2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4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942" y="744855"/>
            <a:ext cx="11409553" cy="13463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05216" y="4888975"/>
            <a:ext cx="338327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lang="en-US" spc="-25" dirty="0">
                <a:latin typeface="Times New Roman"/>
                <a:cs typeface="Times New Roman"/>
              </a:rPr>
              <a:t>SK. RAHAMATH ALI </a:t>
            </a:r>
            <a:r>
              <a:rPr sz="1800" spc="-10" dirty="0">
                <a:latin typeface="Times New Roman"/>
                <a:cs typeface="Times New Roman"/>
              </a:rPr>
              <a:t>(192</a:t>
            </a:r>
            <a:r>
              <a:rPr lang="en-US" sz="1800" spc="-10" dirty="0">
                <a:latin typeface="Times New Roman"/>
                <a:cs typeface="Times New Roman"/>
              </a:rPr>
              <a:t>365048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lang="en-US" sz="1800" spc="-1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0200" y="3111117"/>
            <a:ext cx="94532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 font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BASE MANAGEMENT SYSTEM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0708" y="4858197"/>
            <a:ext cx="293898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dirty="0"/>
              <a:t>RUBY ELIZABETH J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21071-07F4-3AD5-A780-452F5044B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Introduction:</a:t>
            </a:r>
          </a:p>
          <a:p>
            <a:pPr marL="0" indent="0">
              <a:buNone/>
            </a:pPr>
            <a:r>
              <a:rPr lang="en-US" sz="1600" dirty="0"/>
              <a:t>A </a:t>
            </a:r>
            <a:r>
              <a:rPr lang="en-US" sz="1600" b="1" dirty="0"/>
              <a:t>Database Management System (DBMS)</a:t>
            </a:r>
            <a:r>
              <a:rPr lang="en-US" sz="1600" dirty="0"/>
              <a:t> is software that enables users to create, store, organize, retrieve, update, and manage data efficiently in a database. </a:t>
            </a: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800" b="1" dirty="0"/>
              <a:t>What is DBMS?</a:t>
            </a:r>
          </a:p>
          <a:p>
            <a:r>
              <a:rPr lang="en-IN" sz="1600" dirty="0"/>
              <a:t>Software used to create and manage databases.</a:t>
            </a:r>
          </a:p>
          <a:p>
            <a:r>
              <a:rPr lang="en-IN" sz="1600" dirty="0"/>
              <a:t>Stores, retrieves, updates, and deletes data efficiently.</a:t>
            </a:r>
          </a:p>
          <a:p>
            <a:r>
              <a:rPr lang="en-IN" sz="1600" dirty="0"/>
              <a:t>Provides secure and organized data management.</a:t>
            </a:r>
          </a:p>
          <a:p>
            <a:pPr marL="0" indent="0">
              <a:buNone/>
            </a:pPr>
            <a:r>
              <a:rPr lang="en-IN" sz="1600" b="1" dirty="0"/>
              <a:t>Examples:</a:t>
            </a:r>
            <a:endParaRPr lang="en-IN" sz="1600" dirty="0"/>
          </a:p>
          <a:p>
            <a:r>
              <a:rPr lang="en-IN" sz="1600" dirty="0"/>
              <a:t>MySQL</a:t>
            </a:r>
          </a:p>
          <a:p>
            <a:r>
              <a:rPr lang="en-IN" sz="1600" dirty="0"/>
              <a:t>Oracle</a:t>
            </a:r>
          </a:p>
          <a:p>
            <a:r>
              <a:rPr lang="en-IN" sz="1600" dirty="0"/>
              <a:t>SQL Server</a:t>
            </a:r>
          </a:p>
          <a:p>
            <a:r>
              <a:rPr lang="en-IN" sz="1600" dirty="0"/>
              <a:t>PostgreSQL</a:t>
            </a:r>
          </a:p>
          <a:p>
            <a:r>
              <a:rPr lang="en-IN" sz="1600" dirty="0"/>
              <a:t>MongoDB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091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45AA-9EA0-7BE4-642C-8AB45720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733A3-B2A8-3F8C-2961-6964F5C0D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1999" cy="68580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Objectives of DBMS:</a:t>
            </a:r>
          </a:p>
          <a:p>
            <a:r>
              <a:rPr lang="en-US" sz="1600" dirty="0"/>
              <a:t>The main objectives of a DBMS are:</a:t>
            </a:r>
          </a:p>
          <a:p>
            <a:r>
              <a:rPr lang="en-US" sz="1600" b="1" dirty="0"/>
              <a:t>Reduce Data Redundancy</a:t>
            </a:r>
            <a:r>
              <a:rPr lang="en-US" sz="1600" dirty="0"/>
              <a:t> – Eliminates duplicate data.</a:t>
            </a:r>
          </a:p>
          <a:p>
            <a:r>
              <a:rPr lang="en-US" sz="1600" b="1" dirty="0"/>
              <a:t>Maintain Data Consistency</a:t>
            </a:r>
            <a:r>
              <a:rPr lang="en-US" sz="1600" dirty="0"/>
              <a:t> – Ensures accurate and consistent information.</a:t>
            </a:r>
          </a:p>
          <a:p>
            <a:r>
              <a:rPr lang="en-US" sz="1600" b="1" dirty="0"/>
              <a:t>Data Security</a:t>
            </a:r>
            <a:r>
              <a:rPr lang="en-US" sz="1600" dirty="0"/>
              <a:t> – Protects data from unauthorized access.</a:t>
            </a:r>
          </a:p>
          <a:p>
            <a:r>
              <a:rPr lang="en-US" sz="1600" b="1" dirty="0"/>
              <a:t>Data Integrity</a:t>
            </a:r>
            <a:r>
              <a:rPr lang="en-US" sz="1600" dirty="0"/>
              <a:t> – Ensures data is correct and reliable.</a:t>
            </a:r>
          </a:p>
          <a:p>
            <a:r>
              <a:rPr lang="en-US" sz="1600" b="1" dirty="0"/>
              <a:t>Concurrent Access</a:t>
            </a:r>
            <a:r>
              <a:rPr lang="en-US" sz="1600" dirty="0"/>
              <a:t> – Allows multiple users to access data simultaneously.</a:t>
            </a:r>
          </a:p>
          <a:p>
            <a:r>
              <a:rPr lang="en-US" sz="1600" b="1" dirty="0"/>
              <a:t>Backup and Recovery</a:t>
            </a:r>
            <a:r>
              <a:rPr lang="en-US" sz="1600" dirty="0"/>
              <a:t> – Restores data after failures or crashes.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800" b="1" dirty="0"/>
              <a:t>Advantages:</a:t>
            </a:r>
          </a:p>
          <a:p>
            <a:r>
              <a:rPr lang="en-IN" sz="1600" dirty="0"/>
              <a:t>Reduces data duplication</a:t>
            </a:r>
          </a:p>
          <a:p>
            <a:r>
              <a:rPr lang="en-IN" sz="1600" dirty="0"/>
              <a:t>Improves data security</a:t>
            </a:r>
          </a:p>
          <a:p>
            <a:r>
              <a:rPr lang="en-IN" sz="1600" dirty="0"/>
              <a:t>Faster data retrieval</a:t>
            </a:r>
          </a:p>
          <a:p>
            <a:r>
              <a:rPr lang="en-IN" sz="1600" dirty="0"/>
              <a:t>Easy data sharing among users</a:t>
            </a:r>
          </a:p>
          <a:p>
            <a:r>
              <a:rPr lang="en-IN" sz="1600" dirty="0"/>
              <a:t>Supports multiple users simultaneously</a:t>
            </a:r>
          </a:p>
          <a:p>
            <a:r>
              <a:rPr lang="en-IN" sz="1600" dirty="0"/>
              <a:t>Ensures data integrity and consistency</a:t>
            </a:r>
          </a:p>
          <a:p>
            <a:r>
              <a:rPr lang="en-IN" sz="1600" dirty="0"/>
              <a:t>Provides backup and recovery mechanisms</a:t>
            </a:r>
          </a:p>
          <a:p>
            <a:r>
              <a:rPr lang="en-IN" sz="1600" dirty="0"/>
              <a:t>Simplifies database administration</a:t>
            </a:r>
          </a:p>
          <a:p>
            <a:pPr marL="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55337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7E5B0-C11F-2F05-8DA5-951A61BB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E6D7-C10A-0129-F5A1-559231F4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Real-world Applications: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b="1" dirty="0"/>
          </a:p>
          <a:p>
            <a:pPr marL="0" indent="0">
              <a:lnSpc>
                <a:spcPct val="150000"/>
              </a:lnSpc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A DBMS is essential for efficient, secure, and reliable data management. It forms the backbone of modern information systems used in organizations worldwide.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BDDFC5-C652-48DB-ABCE-62A61786B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967919"/>
              </p:ext>
            </p:extLst>
          </p:nvPr>
        </p:nvGraphicFramePr>
        <p:xfrm>
          <a:off x="584463" y="999241"/>
          <a:ext cx="11019934" cy="3110848"/>
        </p:xfrm>
        <a:graphic>
          <a:graphicData uri="http://schemas.openxmlformats.org/drawingml/2006/table">
            <a:tbl>
              <a:tblPr/>
              <a:tblGrid>
                <a:gridCol w="5537679">
                  <a:extLst>
                    <a:ext uri="{9D8B030D-6E8A-4147-A177-3AD203B41FA5}">
                      <a16:colId xmlns:a16="http://schemas.microsoft.com/office/drawing/2014/main" val="2039335263"/>
                    </a:ext>
                  </a:extLst>
                </a:gridCol>
                <a:gridCol w="5482255">
                  <a:extLst>
                    <a:ext uri="{9D8B030D-6E8A-4147-A177-3AD203B41FA5}">
                      <a16:colId xmlns:a16="http://schemas.microsoft.com/office/drawing/2014/main" val="1168307935"/>
                    </a:ext>
                  </a:extLst>
                </a:gridCol>
              </a:tblGrid>
              <a:tr h="388856">
                <a:tc>
                  <a:txBody>
                    <a:bodyPr/>
                    <a:lstStyle/>
                    <a:p>
                      <a:r>
                        <a:rPr lang="en-IN" b="1"/>
                        <a:t>Industry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Application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318387"/>
                  </a:ext>
                </a:extLst>
              </a:tr>
              <a:tr h="388856">
                <a:tc>
                  <a:txBody>
                    <a:bodyPr/>
                    <a:lstStyle/>
                    <a:p>
                      <a:r>
                        <a:rPr lang="en-IN" sz="1600" dirty="0"/>
                        <a:t>Banking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Customer accounts, transactions,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348629"/>
                  </a:ext>
                </a:extLst>
              </a:tr>
              <a:tr h="388856">
                <a:tc>
                  <a:txBody>
                    <a:bodyPr/>
                    <a:lstStyle/>
                    <a:p>
                      <a:r>
                        <a:rPr lang="en-IN" sz="1600" dirty="0"/>
                        <a:t>Healthcare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Patient records, appointments, billing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121074"/>
                  </a:ext>
                </a:extLst>
              </a:tr>
              <a:tr h="388856">
                <a:tc>
                  <a:txBody>
                    <a:bodyPr/>
                    <a:lstStyle/>
                    <a:p>
                      <a:r>
                        <a:rPr lang="en-IN" sz="1600" dirty="0"/>
                        <a:t>Education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Student information, examinations, library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694909"/>
                  </a:ext>
                </a:extLst>
              </a:tr>
              <a:tr h="388856">
                <a:tc>
                  <a:txBody>
                    <a:bodyPr/>
                    <a:lstStyle/>
                    <a:p>
                      <a:r>
                        <a:rPr lang="en-IN" sz="1600" dirty="0"/>
                        <a:t>E-Commerce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Product </a:t>
                      </a:r>
                      <a:r>
                        <a:rPr lang="en-IN" sz="1600" dirty="0" err="1"/>
                        <a:t>catalog</a:t>
                      </a:r>
                      <a:r>
                        <a:rPr lang="en-IN" sz="1600" dirty="0"/>
                        <a:t>, orders, 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128616"/>
                  </a:ext>
                </a:extLst>
              </a:tr>
              <a:tr h="388856">
                <a:tc>
                  <a:txBody>
                    <a:bodyPr/>
                    <a:lstStyle/>
                    <a:p>
                      <a:r>
                        <a:rPr lang="en-IN" sz="1600" dirty="0"/>
                        <a:t>Airlines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Ticket booking, flight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673085"/>
                  </a:ext>
                </a:extLst>
              </a:tr>
              <a:tr h="388856">
                <a:tc>
                  <a:txBody>
                    <a:bodyPr/>
                    <a:lstStyle/>
                    <a:p>
                      <a:r>
                        <a:rPr lang="en-IN" sz="1600" dirty="0"/>
                        <a:t>Government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Citizen records, tax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9974378"/>
                  </a:ext>
                </a:extLst>
              </a:tr>
              <a:tr h="388856">
                <a:tc>
                  <a:txBody>
                    <a:bodyPr/>
                    <a:lstStyle/>
                    <a:p>
                      <a:r>
                        <a:rPr lang="en-IN" sz="1600" dirty="0"/>
                        <a:t>Social Media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User profiles, posts, messaging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532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7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5276-40D3-69A3-7CE2-B28E0483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24FA7-6F9E-DE09-1FF5-FC5BA5D33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1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 </a:t>
            </a:r>
            <a:r>
              <a:rPr lang="en-US" sz="1800" b="1" dirty="0"/>
              <a:t>Architecture diagram: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External Level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Conceptual Level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Internal Level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Database</a:t>
            </a:r>
          </a:p>
          <a:p>
            <a:r>
              <a:rPr lang="en-US" sz="1600" dirty="0"/>
              <a:t>External Level</a:t>
            </a:r>
          </a:p>
          <a:p>
            <a:r>
              <a:rPr lang="en-US" sz="1600" dirty="0"/>
              <a:t>User Views</a:t>
            </a:r>
          </a:p>
          <a:p>
            <a:r>
              <a:rPr lang="en-US" sz="1600" dirty="0"/>
              <a:t>Different users see different data</a:t>
            </a:r>
          </a:p>
          <a:p>
            <a:r>
              <a:rPr lang="en-US" sz="1600" dirty="0"/>
              <a:t>Example:</a:t>
            </a:r>
            <a:br>
              <a:rPr lang="en-US" sz="1600" dirty="0"/>
            </a:br>
            <a:r>
              <a:rPr lang="en-US" sz="1600" dirty="0"/>
              <a:t>Student Portal</a:t>
            </a:r>
            <a:br>
              <a:rPr lang="en-US" sz="1600" dirty="0"/>
            </a:br>
            <a:r>
              <a:rPr lang="en-US" sz="1600" dirty="0"/>
              <a:t>Faculty Portal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109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19D8C-7FCA-D8F4-F69B-BDFADBC5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51F85-0619-6F2B-D9C4-9E032BB8A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sz="1600" dirty="0"/>
              <a:t>Conceptual &amp; Internal Levels</a:t>
            </a:r>
          </a:p>
          <a:p>
            <a:r>
              <a:rPr lang="en-IN" sz="1600" dirty="0"/>
              <a:t>Conceptual</a:t>
            </a:r>
          </a:p>
          <a:p>
            <a:r>
              <a:rPr lang="en-IN" sz="1600" dirty="0"/>
              <a:t>Entire database structure</a:t>
            </a:r>
          </a:p>
          <a:p>
            <a:r>
              <a:rPr lang="en-IN" sz="1600" dirty="0"/>
              <a:t>Internal</a:t>
            </a:r>
          </a:p>
          <a:p>
            <a:r>
              <a:rPr lang="en-IN" sz="1600" dirty="0"/>
              <a:t>Physical storage</a:t>
            </a:r>
          </a:p>
          <a:p>
            <a:r>
              <a:rPr lang="en-IN" sz="1600" dirty="0"/>
              <a:t>Files</a:t>
            </a:r>
          </a:p>
          <a:p>
            <a:r>
              <a:rPr lang="en-IN" sz="1600" dirty="0"/>
              <a:t>Indexes</a:t>
            </a:r>
            <a:endParaRPr lang="en-IN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File System vs DBMS: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b="1" dirty="0"/>
          </a:p>
          <a:p>
            <a:pPr marL="0" indent="0">
              <a:lnSpc>
                <a:spcPct val="150000"/>
              </a:lnSpc>
              <a:buNone/>
            </a:pPr>
            <a:endParaRPr lang="en-US" sz="1800" b="1" dirty="0"/>
          </a:p>
          <a:p>
            <a:pPr marL="0" indent="0">
              <a:lnSpc>
                <a:spcPct val="150000"/>
              </a:lnSpc>
              <a:buNone/>
            </a:pPr>
            <a:endParaRPr lang="en-US" sz="1800" b="1" dirty="0"/>
          </a:p>
          <a:p>
            <a:pPr marL="0" indent="0">
              <a:lnSpc>
                <a:spcPct val="150000"/>
              </a:lnSpc>
              <a:buNone/>
            </a:pPr>
            <a:endParaRPr lang="en-US" sz="1800" b="1" dirty="0"/>
          </a:p>
          <a:p>
            <a:pPr marL="0" indent="0">
              <a:lnSpc>
                <a:spcPct val="150000"/>
              </a:lnSpc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89B525-2749-473C-83BA-E11586978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619167"/>
              </p:ext>
            </p:extLst>
          </p:nvPr>
        </p:nvGraphicFramePr>
        <p:xfrm>
          <a:off x="838200" y="3610466"/>
          <a:ext cx="10515600" cy="2258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807503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57856434"/>
                    </a:ext>
                  </a:extLst>
                </a:gridCol>
              </a:tblGrid>
              <a:tr h="477188">
                <a:tc>
                  <a:txBody>
                    <a:bodyPr/>
                    <a:lstStyle/>
                    <a:p>
                      <a:r>
                        <a:rPr lang="en-IN" b="1" dirty="0"/>
                        <a:t>File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DBMS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538961"/>
                  </a:ext>
                </a:extLst>
              </a:tr>
              <a:tr h="445213">
                <a:tc>
                  <a:txBody>
                    <a:bodyPr/>
                    <a:lstStyle/>
                    <a:p>
                      <a:r>
                        <a:rPr lang="en-IN" sz="1600" dirty="0"/>
                        <a:t>Data redundancy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Minimal redundancy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028026"/>
                  </a:ext>
                </a:extLst>
              </a:tr>
              <a:tr h="445213">
                <a:tc>
                  <a:txBody>
                    <a:bodyPr/>
                    <a:lstStyle/>
                    <a:p>
                      <a:r>
                        <a:rPr lang="en-IN" sz="1600" dirty="0"/>
                        <a:t>No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743275"/>
                  </a:ext>
                </a:extLst>
              </a:tr>
              <a:tr h="445213">
                <a:tc>
                  <a:txBody>
                    <a:bodyPr/>
                    <a:lstStyle/>
                    <a:p>
                      <a:r>
                        <a:rPr lang="en-IN" sz="1600" dirty="0"/>
                        <a:t>Difficult backup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Easy backup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631231"/>
                  </a:ext>
                </a:extLst>
              </a:tr>
              <a:tr h="445213">
                <a:tc>
                  <a:txBody>
                    <a:bodyPr/>
                    <a:lstStyle/>
                    <a:p>
                      <a:r>
                        <a:rPr lang="en-IN" sz="1600" dirty="0"/>
                        <a:t>No concurrency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Multi-user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491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776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A4026-2976-5844-2262-85C35E70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EFA4A-5844-CE44-A8F0-85369AF9D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</a:t>
            </a:r>
            <a:r>
              <a:rPr lang="en-US" sz="1800" b="1" dirty="0"/>
              <a:t>Banking Case Study</a:t>
            </a:r>
          </a:p>
          <a:p>
            <a:r>
              <a:rPr lang="en-US" sz="1600" dirty="0"/>
              <a:t>File System</a:t>
            </a:r>
          </a:p>
          <a:p>
            <a:r>
              <a:rPr lang="en-US" sz="1600" dirty="0"/>
              <a:t>Duplicate customer records</a:t>
            </a:r>
          </a:p>
          <a:p>
            <a:r>
              <a:rPr lang="en-US" sz="1600" dirty="0"/>
              <a:t>Slow account updates</a:t>
            </a:r>
          </a:p>
          <a:p>
            <a:r>
              <a:rPr lang="en-US" sz="1600" dirty="0"/>
              <a:t>DBMS</a:t>
            </a:r>
          </a:p>
          <a:p>
            <a:r>
              <a:rPr lang="en-US" sz="1600" dirty="0"/>
              <a:t>Centralized customer database</a:t>
            </a:r>
          </a:p>
          <a:p>
            <a:r>
              <a:rPr lang="en-US" sz="1600" dirty="0"/>
              <a:t>Instant transactions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/>
              <a:t>Healthcare Case Study</a:t>
            </a:r>
          </a:p>
          <a:p>
            <a:r>
              <a:rPr lang="en-US" sz="1600" dirty="0"/>
              <a:t>File System</a:t>
            </a:r>
          </a:p>
          <a:p>
            <a:r>
              <a:rPr lang="en-US" sz="1600" dirty="0"/>
              <a:t>Separate patient files</a:t>
            </a:r>
          </a:p>
          <a:p>
            <a:r>
              <a:rPr lang="en-US" sz="1600" dirty="0"/>
              <a:t>Lost reports</a:t>
            </a:r>
          </a:p>
          <a:p>
            <a:r>
              <a:rPr lang="en-US" sz="1600" dirty="0"/>
              <a:t>DBMS</a:t>
            </a:r>
          </a:p>
          <a:p>
            <a:r>
              <a:rPr lang="en-US" sz="1600" dirty="0"/>
              <a:t>Electronic Health Records</a:t>
            </a:r>
          </a:p>
          <a:p>
            <a:r>
              <a:rPr lang="en-US" sz="1600" dirty="0"/>
              <a:t>Fast patient retrieval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39432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</TotalTime>
  <Words>395</Words>
  <Application>Microsoft Office PowerPoint</Application>
  <PresentationFormat>Widescreen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mohan rangan</dc:creator>
  <cp:lastModifiedBy>SK Rahamath ali</cp:lastModifiedBy>
  <cp:revision>8</cp:revision>
  <dcterms:created xsi:type="dcterms:W3CDTF">2026-07-22T17:58:49Z</dcterms:created>
  <dcterms:modified xsi:type="dcterms:W3CDTF">2026-07-24T17:31:37Z</dcterms:modified>
</cp:coreProperties>
</file>